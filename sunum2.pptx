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dirty="0" err="1">
                <a:solidFill>
                  <a:srgbClr val="FFFFFF"/>
                </a:solidFill>
              </a:rPr>
              <a:t>Mahsül</a:t>
            </a:r>
            <a:r>
              <a:rPr sz="5200" b="1" dirty="0">
                <a:solidFill>
                  <a:srgbClr val="FFFFFF"/>
                </a:solidFill>
              </a:rPr>
              <a:t> </a:t>
            </a:r>
            <a:r>
              <a:rPr sz="5200" b="1" dirty="0" err="1">
                <a:solidFill>
                  <a:srgbClr val="FFFFFF"/>
                </a:solidFill>
              </a:rPr>
              <a:t>Öneri</a:t>
            </a:r>
            <a:r>
              <a:rPr sz="5200" b="1" dirty="0">
                <a:solidFill>
                  <a:srgbClr val="FFFFFF"/>
                </a:solidFill>
              </a:rPr>
              <a:t> </a:t>
            </a:r>
            <a:r>
              <a:rPr sz="5200" b="1" dirty="0" err="1">
                <a:solidFill>
                  <a:srgbClr val="FFFFFF"/>
                </a:solidFill>
              </a:rPr>
              <a:t>Sistemi</a:t>
            </a:r>
            <a:endParaRPr sz="5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CFDAEC"/>
                </a:solidFill>
              </a:rPr>
              <a:t>Toprak </a:t>
            </a:r>
            <a:r>
              <a:rPr sz="2200" b="0" dirty="0" err="1">
                <a:solidFill>
                  <a:srgbClr val="CFDAEC"/>
                </a:solidFill>
              </a:rPr>
              <a:t>ve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İklim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Verilerine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Dayalı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Makine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Öğrenmesi</a:t>
            </a:r>
            <a:r>
              <a:rPr sz="2200" b="0" dirty="0">
                <a:solidFill>
                  <a:srgbClr val="CFDAEC"/>
                </a:solidFill>
              </a:rPr>
              <a:t> </a:t>
            </a:r>
            <a:r>
              <a:rPr sz="2200" b="0" dirty="0" err="1">
                <a:solidFill>
                  <a:srgbClr val="CFDAEC"/>
                </a:solidFill>
              </a:rPr>
              <a:t>Projesi</a:t>
            </a:r>
            <a:endParaRPr sz="2200" b="0" dirty="0">
              <a:solidFill>
                <a:srgbClr val="CFDAE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CFDAEC"/>
                </a:solidFill>
              </a:rPr>
              <a:t>BIM 322 — </a:t>
            </a:r>
            <a:r>
              <a:rPr sz="1600" b="0" dirty="0" err="1">
                <a:solidFill>
                  <a:srgbClr val="CFDAEC"/>
                </a:solidFill>
              </a:rPr>
              <a:t>Makine</a:t>
            </a:r>
            <a:r>
              <a:rPr sz="1600" b="0" dirty="0">
                <a:solidFill>
                  <a:srgbClr val="CFDAEC"/>
                </a:solidFill>
              </a:rPr>
              <a:t> </a:t>
            </a:r>
            <a:r>
              <a:rPr sz="1600" b="0" dirty="0" err="1">
                <a:solidFill>
                  <a:srgbClr val="CFDAEC"/>
                </a:solidFill>
              </a:rPr>
              <a:t>Öğrenmesi</a:t>
            </a:r>
            <a:r>
              <a:rPr sz="1600" b="0" dirty="0">
                <a:solidFill>
                  <a:srgbClr val="CFDAEC"/>
                </a:solidFill>
              </a:rPr>
              <a:t> </a:t>
            </a:r>
            <a:r>
              <a:rPr sz="1600" b="0" dirty="0" err="1">
                <a:solidFill>
                  <a:srgbClr val="CFDAEC"/>
                </a:solidFill>
              </a:rPr>
              <a:t>ve</a:t>
            </a:r>
            <a:r>
              <a:rPr sz="1600" b="0" dirty="0">
                <a:solidFill>
                  <a:srgbClr val="CFDAEC"/>
                </a:solidFill>
              </a:rPr>
              <a:t> </a:t>
            </a:r>
            <a:r>
              <a:rPr sz="1600" b="0" dirty="0" err="1">
                <a:solidFill>
                  <a:srgbClr val="CFDAEC"/>
                </a:solidFill>
              </a:rPr>
              <a:t>Uygulamaları</a:t>
            </a:r>
            <a:endParaRPr sz="1600" b="0" dirty="0">
              <a:solidFill>
                <a:srgbClr val="CFDAE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400" dirty="0">
                <a:solidFill>
                  <a:srgbClr val="CFDAEC"/>
                </a:solidFill>
              </a:rPr>
              <a:t>Enes TOPÇAM - 030123019</a:t>
            </a:r>
            <a:endParaRPr sz="1400" b="0" dirty="0">
              <a:solidFill>
                <a:srgbClr val="CFDAE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400" dirty="0">
                <a:solidFill>
                  <a:srgbClr val="CFDAEC"/>
                </a:solidFill>
              </a:rPr>
              <a:t>Eren AYDIN - 030122003</a:t>
            </a:r>
            <a:endParaRPr sz="1400" b="0" dirty="0">
              <a:solidFill>
                <a:srgbClr val="CFDAE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Projenin Amacı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3D91"/>
                </a:solidFill>
              </a:rPr>
              <a:t>Temel Hedef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B35"/>
                </a:solidFill>
              </a:rPr>
              <a:t>Çiftçilerin ekecekleri mahsülü doğru seçebilmesi için, toprak ve iklim verilerinden yararlanan bir makine öğrenmesi tabanlı karar destek sistemi geliştirmek.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3D91"/>
                </a:solidFill>
              </a:rPr>
              <a:t>Çözülen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B35"/>
                </a:solidFill>
              </a:rPr>
              <a:t>Klasik tarımsal tecrübeye dayalı kararları veri odaklı bir yaklaşımla güçlendirmek ve yanlış mahsül seçiminden kaynaklanan üretkenlik kayıplarını en aza indirmek.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 Seti — Crop Recommendation (Kaggle)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Veri Setinin Yapısı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92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2200 örnek, 8 sütun (7 özellik + 1 hedef)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22 mahsül sınıfı, her sınıfta 100 örnek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Eksik değer yok, dengeli dağılım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Sütunlar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20440"/>
          <a:ext cx="667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Sütun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Açıklama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Birim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Azot içeriği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kg/ha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Fosfor içeriği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kg/ha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Potasyum içeriği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kg/ha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Sıcaklık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°C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Bağıl nem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Toprak pH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0–14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Yıllık yağış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Mahsül (HEDEF)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22 sınıf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Sınıf Dağılımı</a:t>
            </a:r>
          </a:p>
        </p:txBody>
      </p:sp>
      <p:pic>
        <p:nvPicPr>
          <p:cNvPr id="8" name="Picture 7" descr="cell05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473" y="1371600"/>
            <a:ext cx="5177167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8411" y="3364766"/>
            <a:ext cx="3465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6B7380"/>
                </a:solidFill>
              </a:rPr>
              <a:t>Her </a:t>
            </a:r>
            <a:r>
              <a:rPr sz="800" b="0" dirty="0" err="1">
                <a:solidFill>
                  <a:srgbClr val="6B7380"/>
                </a:solidFill>
              </a:rPr>
              <a:t>mahsülden</a:t>
            </a:r>
            <a:r>
              <a:rPr sz="800" b="0" dirty="0">
                <a:solidFill>
                  <a:srgbClr val="6B7380"/>
                </a:solidFill>
              </a:rPr>
              <a:t> tam </a:t>
            </a:r>
            <a:r>
              <a:rPr sz="800" b="0" dirty="0" err="1">
                <a:solidFill>
                  <a:srgbClr val="6B7380"/>
                </a:solidFill>
              </a:rPr>
              <a:t>olarak</a:t>
            </a:r>
            <a:r>
              <a:rPr sz="800" b="0" dirty="0">
                <a:solidFill>
                  <a:srgbClr val="6B7380"/>
                </a:solidFill>
              </a:rPr>
              <a:t> 100 </a:t>
            </a:r>
            <a:r>
              <a:rPr sz="800" b="0" dirty="0" err="1">
                <a:solidFill>
                  <a:srgbClr val="6B7380"/>
                </a:solidFill>
              </a:rPr>
              <a:t>örnek</a:t>
            </a:r>
            <a:r>
              <a:rPr sz="800" b="0" dirty="0">
                <a:solidFill>
                  <a:srgbClr val="6B7380"/>
                </a:solidFill>
              </a:rPr>
              <a:t> var → </a:t>
            </a:r>
            <a:r>
              <a:rPr sz="800" b="0" dirty="0" err="1">
                <a:solidFill>
                  <a:srgbClr val="6B7380"/>
                </a:solidFill>
              </a:rPr>
              <a:t>veri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seti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dengeli</a:t>
            </a:r>
            <a:r>
              <a:rPr sz="800" b="0" dirty="0">
                <a:solidFill>
                  <a:srgbClr val="6B7380"/>
                </a:solidFill>
              </a:rPr>
              <a:t>, </a:t>
            </a:r>
            <a:r>
              <a:rPr sz="800" b="0" dirty="0" err="1">
                <a:solidFill>
                  <a:srgbClr val="6B7380"/>
                </a:solidFill>
              </a:rPr>
              <a:t>sınıf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dengesizliğinden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kaynaklanan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önyargı</a:t>
            </a:r>
            <a:r>
              <a:rPr sz="800" b="0" dirty="0">
                <a:solidFill>
                  <a:srgbClr val="6B7380"/>
                </a:solidFill>
              </a:rPr>
              <a:t> </a:t>
            </a:r>
            <a:r>
              <a:rPr sz="800" b="0" dirty="0" err="1">
                <a:solidFill>
                  <a:srgbClr val="6B7380"/>
                </a:solidFill>
              </a:rPr>
              <a:t>sorunu</a:t>
            </a:r>
            <a:r>
              <a:rPr sz="800" b="0" dirty="0">
                <a:solidFill>
                  <a:srgbClr val="6B7380"/>
                </a:solidFill>
              </a:rPr>
              <a:t> yok.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1 — Veri Ön İşleme (IQR)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B35"/>
                </a:solidFill>
              </a:rPr>
              <a:t>•  Q1 = verinin %25'lik dilimi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B35"/>
                </a:solidFill>
              </a:rPr>
              <a:t>•  Q3 = verinin %75'lik dilimi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B35"/>
                </a:solidFill>
              </a:rPr>
              <a:t>•  IQR = Q3 − Q1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B35"/>
                </a:solidFill>
              </a:rPr>
              <a:t>•  Sınırlar: Q1 − 1.5·IQR  ve  Q3 + 1.5·IQR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Örnek: rainfall (yağış)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B35"/>
                </a:solidFill>
              </a:rPr>
              <a:t>Q1 = 64.55     Q3 = 124.27
IQR = 124.27 − 64.55 = 59.72
Alt sınır = 64.55 − 1.5 × 59.72 = −25.02
Üst sınır = 124.27 + 1.5 × 59.72 = 213.84
→  213.84 mm üzeri tüm satırlar silindi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914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Tüm Özellikler İçin Sınırlar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37160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Altından sildik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Üstünden sildik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179.12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128.00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92.50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14.08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37.25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4.54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8.35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213.84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56692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(— = bu sınırda hiç aykırı değer yok)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F3A"/>
                </a:solidFill>
              </a:rPr>
              <a:t>2200 → 1846 satır  (354 aykırı silindi)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 — Normalizasyon (StandardScaler)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</a:rPr>
              <a:t>Neden Normalize Ediyoruz?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222B35"/>
                </a:solidFill>
              </a:rPr>
              <a:t>•  </a:t>
            </a:r>
            <a:r>
              <a:rPr sz="1400" dirty="0" err="1">
                <a:solidFill>
                  <a:srgbClr val="222B35"/>
                </a:solidFill>
              </a:rPr>
              <a:t>Özellikler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farklı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birimlerde</a:t>
            </a:r>
            <a:r>
              <a:rPr sz="1400" dirty="0">
                <a:solidFill>
                  <a:srgbClr val="222B35"/>
                </a:solidFill>
              </a:rPr>
              <a:t> (pH 0-14, </a:t>
            </a:r>
            <a:r>
              <a:rPr sz="1400" dirty="0" err="1">
                <a:solidFill>
                  <a:srgbClr val="222B35"/>
                </a:solidFill>
              </a:rPr>
              <a:t>yağış</a:t>
            </a:r>
            <a:r>
              <a:rPr sz="1400" dirty="0">
                <a:solidFill>
                  <a:srgbClr val="222B35"/>
                </a:solidFill>
              </a:rPr>
              <a:t> mm, N kg/ha)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22B35"/>
                </a:solidFill>
              </a:rPr>
              <a:t>•  </a:t>
            </a:r>
            <a:r>
              <a:rPr sz="1400" dirty="0" err="1">
                <a:solidFill>
                  <a:srgbClr val="222B35"/>
                </a:solidFill>
              </a:rPr>
              <a:t>Mesafe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tabanlı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modeller</a:t>
            </a:r>
            <a:r>
              <a:rPr sz="1400" dirty="0">
                <a:solidFill>
                  <a:srgbClr val="222B35"/>
                </a:solidFill>
              </a:rPr>
              <a:t> (KNN, SVM) </a:t>
            </a:r>
            <a:r>
              <a:rPr sz="1400" dirty="0" err="1">
                <a:solidFill>
                  <a:srgbClr val="222B35"/>
                </a:solidFill>
              </a:rPr>
              <a:t>büyük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ölçekli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özelliklere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yanlı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olur</a:t>
            </a:r>
            <a:endParaRPr sz="1400" dirty="0">
              <a:solidFill>
                <a:srgbClr val="222B35"/>
              </a:solidFill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22B35"/>
                </a:solidFill>
              </a:rPr>
              <a:t>•  </a:t>
            </a:r>
            <a:r>
              <a:rPr sz="1400" dirty="0" err="1">
                <a:solidFill>
                  <a:srgbClr val="222B35"/>
                </a:solidFill>
              </a:rPr>
              <a:t>StandardScaler</a:t>
            </a:r>
            <a:r>
              <a:rPr sz="1400" dirty="0">
                <a:solidFill>
                  <a:srgbClr val="222B35"/>
                </a:solidFill>
              </a:rPr>
              <a:t> → </a:t>
            </a:r>
            <a:r>
              <a:rPr sz="1400" dirty="0" err="1">
                <a:solidFill>
                  <a:srgbClr val="222B35"/>
                </a:solidFill>
              </a:rPr>
              <a:t>ortalama</a:t>
            </a:r>
            <a:r>
              <a:rPr sz="1400" dirty="0">
                <a:solidFill>
                  <a:srgbClr val="222B35"/>
                </a:solidFill>
              </a:rPr>
              <a:t>=0, </a:t>
            </a:r>
            <a:r>
              <a:rPr sz="1400" dirty="0" err="1">
                <a:solidFill>
                  <a:srgbClr val="222B35"/>
                </a:solidFill>
              </a:rPr>
              <a:t>standart</a:t>
            </a:r>
            <a:r>
              <a:rPr sz="1400" dirty="0">
                <a:solidFill>
                  <a:srgbClr val="222B35"/>
                </a:solidFill>
              </a:rPr>
              <a:t> </a:t>
            </a:r>
            <a:r>
              <a:rPr sz="1400" dirty="0" err="1">
                <a:solidFill>
                  <a:srgbClr val="222B35"/>
                </a:solidFill>
              </a:rPr>
              <a:t>sapma</a:t>
            </a:r>
            <a:r>
              <a:rPr sz="1400" dirty="0">
                <a:solidFill>
                  <a:srgbClr val="222B35"/>
                </a:solidFill>
              </a:rPr>
              <a:t>=1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22B35"/>
                </a:solidFill>
              </a:rPr>
              <a:t>•  </a:t>
            </a:r>
            <a:r>
              <a:rPr sz="1400" dirty="0" err="1">
                <a:solidFill>
                  <a:srgbClr val="222B35"/>
                </a:solidFill>
              </a:rPr>
              <a:t>Formül</a:t>
            </a:r>
            <a:r>
              <a:rPr sz="1400" dirty="0">
                <a:solidFill>
                  <a:srgbClr val="222B35"/>
                </a:solidFill>
              </a:rPr>
              <a:t>:  z = (x − μ) / 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</a:rPr>
              <a:t>Kod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45262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AECEF"/>
                </a:solidFill>
                <a:latin typeface="Consolas"/>
              </a:rPr>
              <a:t>from sklearn.preprocessing import StandardScaler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A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AECEF"/>
                </a:solidFill>
                <a:latin typeface="Consolas"/>
              </a:rPr>
              <a:t>scaler = StandardScaler()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AECEF"/>
                </a:solidFill>
                <a:latin typeface="Consolas"/>
              </a:rPr>
              <a:t>X_scaled = scaler.fit_transform(X)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2.1 — Özellik Seçimi: Pearson Korelasyonu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B35"/>
                </a:solidFill>
              </a:rPr>
              <a:t>Her özelliğin hedefle olan doğrusal ilişkisinin gücünü (-1 ile +1 arası) ölçer. Mutlak değer ne kadar büyükse ilişki o kadar güçlü.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Kod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65760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corr = df[cols + ['label_enc']].corr()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korelasyon = corr['label_enc']\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.drop('label_enc').abs()\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.sort_values(ascending=False)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Sonuç (Mutlak Korelasyon)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3716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Sıra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|Korelasyon|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0.4114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0.2991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0.1349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0.0959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0.0368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</a:rPr>
              <a:t>Not: Pearson sadece DOĞRUSAL ilişki ölçer. Çok sınıflı problemde (22 sınıf) hedef sayısal olduğu için sonuçlar yanıltıcı olabilir → tek başına karar verilmez.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2.2 — Özellik Seçimi: ANOVA F-testi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B35"/>
                </a:solidFill>
              </a:rPr>
              <a:t>Her özellik için sınıflar arası varyans / sınıf içi varyans oranını hesaplar. F skoru yüksekse o özellik sınıfları iyi ayırıyor demektir.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Kod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9436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7490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from sklearn.feature_selection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import SelectKBest, f_classif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selector = SelectKBest(f_classif, k='all')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selector.fit(X_scaled, 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f_scores = selector.scores_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Sonuç (F Skorları)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3716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Sıra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 Skoru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2739.46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2660.98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895.72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766.23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564.71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145.75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</a:rPr>
              <a:t>humidity ve K çok belirgin → sınıflar arası ayrımı en güçlü yapan iki özellik. pH'ın F skoru çok düşük → ayırt edici değil.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2.3 — Özellik Seçimi: Mutual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B35"/>
                </a:solidFill>
              </a:rPr>
              <a:t>Bir özelliği bilmek, hedefin değerini tahmin etmemize ne kadar yardımcı olur? Bilgi teorisi tabanlı ölçüm — hem doğrusal hem doğrusal olmayan ilişkileri yakalar.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Kod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9436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7490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from sklearn.feature_selection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import mutual_info_classif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mi_scores = mutual_info_classif(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X_scaled, y, random_state=42)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Sonuç (MI Skorları)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3716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Sıra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 Skoru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1.7395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1.6080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1.4668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1.1197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1.0205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0.9286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0.6223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</a:rPr>
              <a:t>Pearson'dan farklı olarak rainfall da yüksek çıktı. Yani rainfall ile mahsül arasında doğrusal olmayan güçlü bir ilişki var.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2.4 — Özellik Seçimi: Random Forest Önemi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Yöntem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B35"/>
                </a:solidFill>
              </a:rPr>
              <a:t>Random Forest eğitilirken her özelliğin karar ağaçlarındaki bölünmelere ne kadar katkı yaptığı ölçülür. Yüksek değer = modelin o özelliği çok kullanması.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Kod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9436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7490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from sklearn.ensemble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import RandomForestClassifier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rf = RandomForestClassifier(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    n_estimators=100, random_state=42)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rf.fit(X_scaled, 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AECEF"/>
                </a:solidFill>
                <a:latin typeface="Consolas"/>
              </a:rPr>
              <a:t>importance = rf.feature_importances_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Sonuç (Önem Skorları)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3716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Sıra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Önem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0.2400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0.2213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0.1683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0.1254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0.1153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0.0745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0.0552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</a:rPr>
              <a:t>rainfall ve humidity neredeyse aynı önemde. Toplamları %46 → model kararlarının yaklaşık yarısı bu iki özelliğe dayanıyor.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2.5 — 4 Yöntemin Karşılaştırılması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Özellik Sıralaması — 4 Yöntemin Birleşik Sonucu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Pearson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F-testi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RF Önemi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Ortalama Sıra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1.50 (en önemli)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3.50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3.25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5"/>
                          </a:solidFill>
                        </a:rPr>
                        <a:t>6.25 (en az önemli)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Karar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humidity, K, rainfall ve P en belirleyici özellikler (3+ yöntem hemfikir)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Toplam 7 özellik var → hepsini modele dahil ettik (özellik elemeye gerek yok)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B35"/>
                </a:solidFill>
              </a:rPr>
              <a:t>•  Bu karar SHAP analizinde de doğrulandı (Görev 4.4)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3 — Modelleme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</a:rPr>
              <a:t>Veri Ayrımı (Stratified, %60 / %20 / %20)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Eğitim: 1107 örnek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Doğrulama: 369 örnek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Test: 370 örnek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0B3D91"/>
                </a:solidFill>
              </a:rPr>
              <a:t>Kullanılan</a:t>
            </a:r>
            <a:r>
              <a:rPr sz="1800" b="1" dirty="0">
                <a:solidFill>
                  <a:srgbClr val="0B3D91"/>
                </a:solidFill>
              </a:rPr>
              <a:t> 5 </a:t>
            </a:r>
            <a:r>
              <a:rPr sz="1800" b="1" dirty="0" err="1">
                <a:solidFill>
                  <a:srgbClr val="0B3D91"/>
                </a:solidFill>
              </a:rPr>
              <a:t>Algoritma</a:t>
            </a:r>
            <a:endParaRPr sz="1800" b="1" dirty="0">
              <a:solidFill>
                <a:srgbClr val="0B3D9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Random Forest  (n_estimators=100)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Decision Tree  (max_depth=10)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KNN  (k=5)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SVM  (RBF kernel)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Gradient Boosting  (n_estimators=100)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4.1 — Performans Metrikleri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Eğt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Dğr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Tst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Tst Prec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Tst Rec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Tst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0.9702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0.9838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0.9852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0.9838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0.9836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SVM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0.9864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0.9837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0.9794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0.9783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5"/>
                          </a:solidFill>
                        </a:rPr>
                        <a:t>0.9636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7F3A"/>
                </a:solidFill>
              </a:rPr>
              <a:t>→  En yüksek test başarısı: Random Forest  %98.92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4.2 — Karışıklık Matrisleri (Test Seti)</a:t>
            </a:r>
          </a:p>
        </p:txBody>
      </p:sp>
      <p:pic>
        <p:nvPicPr>
          <p:cNvPr id="3" name="Picture 2" descr="cell25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5172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</a:rPr>
              <a:t>Diagonal = doğru tahmin   |   Diagonal dışı = karışıklık (hata)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3D91"/>
                </a:solidFill>
              </a:rPr>
              <a:t>Toplam test seti: 370 örnek  (20 sınıf)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91"/>
                </a:solidFill>
              </a:rPr>
              <a:t>Test Setinde Örnek Sayıları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21040" y="1325880"/>
          <a:ext cx="3657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Sınıf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mothbeans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rice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papaya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orange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chickpea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mango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pigeonpeas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Diğer 13 sınıf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B35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4.3 — ROC Analizi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ROC-AUC (One-vs-Rest, 20 Sınıf için Macro Ortalama)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</a:rPr>
              <a:t>Her sınıf için ROC eğrisinin altındaki alan (AUC) hesaplanır; 5 modelin 3 set üzerindeki ortalama AUC değerleri aşağıdadır. AUC = 1.00 mükemmel ayrım, 0.50 ise rastgele tahmin demektir.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688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Eğitim AUC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Doğrulama AUC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0.9997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0.9959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5"/>
                          </a:solidFill>
                        </a:rPr>
                        <a:t>0.9898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7F3A"/>
                </a:solidFill>
              </a:rPr>
              <a:t>→  Tüm modeller AUC ≈ 1.00  —  sınıfları neredeyse mükemmel ayırabiliyor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</a:rPr>
              <a:t>En yüksek test AUC: Random Forest (0.9999)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Görev 4.4 — Kara Kutu Açıklaması (SHAP)</a:t>
            </a:r>
          </a:p>
        </p:txBody>
      </p:sp>
      <p:pic>
        <p:nvPicPr>
          <p:cNvPr id="3" name="Picture 2" descr="cell3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7589520" cy="37330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380"/>
                </a:solidFill>
              </a:rPr>
              <a:t>humidity ve rainfall en yüksek SHAP önemine sahip — bu sıralama F-testi ve RF Önemi sonuçlarıyla uyumlu.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Streamlit Arayüzü — Giriş Ekranı</a:t>
            </a:r>
          </a:p>
        </p:txBody>
      </p:sp>
      <p:pic>
        <p:nvPicPr>
          <p:cNvPr id="3" name="Picture 2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000"/>
            <a:ext cx="6400000" cy="36495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0" y="1097280"/>
            <a:ext cx="44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3D91"/>
                </a:solidFill>
              </a:rPr>
              <a:t>Nasıl Kullanılır?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6848" y="1608640"/>
            <a:ext cx="44000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222B35"/>
                </a:solidFill>
              </a:rPr>
              <a:t>•  7 </a:t>
            </a:r>
            <a:r>
              <a:rPr sz="1500" dirty="0" err="1">
                <a:solidFill>
                  <a:srgbClr val="222B35"/>
                </a:solidFill>
              </a:rPr>
              <a:t>girdi</a:t>
            </a:r>
            <a:r>
              <a:rPr sz="1500" dirty="0">
                <a:solidFill>
                  <a:srgbClr val="222B35"/>
                </a:solidFill>
              </a:rPr>
              <a:t> </a:t>
            </a:r>
            <a:r>
              <a:rPr sz="1500" dirty="0" err="1">
                <a:solidFill>
                  <a:srgbClr val="222B35"/>
                </a:solidFill>
              </a:rPr>
              <a:t>değeri</a:t>
            </a:r>
            <a:r>
              <a:rPr sz="1500" dirty="0">
                <a:solidFill>
                  <a:srgbClr val="222B35"/>
                </a:solidFill>
              </a:rPr>
              <a:t> form </a:t>
            </a:r>
            <a:r>
              <a:rPr sz="1500" dirty="0" err="1">
                <a:solidFill>
                  <a:srgbClr val="222B35"/>
                </a:solidFill>
              </a:rPr>
              <a:t>üzerinden</a:t>
            </a:r>
            <a:r>
              <a:rPr sz="1500" dirty="0">
                <a:solidFill>
                  <a:srgbClr val="222B35"/>
                </a:solidFill>
              </a:rPr>
              <a:t> </a:t>
            </a:r>
            <a:r>
              <a:rPr sz="1500" dirty="0" err="1">
                <a:solidFill>
                  <a:srgbClr val="222B35"/>
                </a:solidFill>
              </a:rPr>
              <a:t>girilir</a:t>
            </a:r>
            <a:endParaRPr sz="1500" dirty="0">
              <a:solidFill>
                <a:srgbClr val="222B35"/>
              </a:solidFill>
            </a:endParaRP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22B35"/>
                </a:solidFill>
              </a:rPr>
              <a:t>      (N, P, K, </a:t>
            </a:r>
            <a:r>
              <a:rPr sz="1500" dirty="0" err="1">
                <a:solidFill>
                  <a:srgbClr val="222B35"/>
                </a:solidFill>
              </a:rPr>
              <a:t>Sıcaklık</a:t>
            </a:r>
            <a:r>
              <a:rPr sz="1500" dirty="0">
                <a:solidFill>
                  <a:srgbClr val="222B35"/>
                </a:solidFill>
              </a:rPr>
              <a:t>, Nem, pH, </a:t>
            </a:r>
            <a:r>
              <a:rPr sz="1500" dirty="0" err="1">
                <a:solidFill>
                  <a:srgbClr val="222B35"/>
                </a:solidFill>
              </a:rPr>
              <a:t>Yağış</a:t>
            </a:r>
            <a:r>
              <a:rPr sz="1500" dirty="0">
                <a:solidFill>
                  <a:srgbClr val="222B35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22B35"/>
                </a:solidFill>
              </a:rPr>
              <a:t>•  "</a:t>
            </a:r>
            <a:r>
              <a:rPr sz="1500" dirty="0" err="1">
                <a:solidFill>
                  <a:srgbClr val="222B35"/>
                </a:solidFill>
              </a:rPr>
              <a:t>Mahsül</a:t>
            </a:r>
            <a:r>
              <a:rPr sz="1500" dirty="0">
                <a:solidFill>
                  <a:srgbClr val="222B35"/>
                </a:solidFill>
              </a:rPr>
              <a:t> </a:t>
            </a:r>
            <a:r>
              <a:rPr sz="1500" dirty="0" err="1">
                <a:solidFill>
                  <a:srgbClr val="222B35"/>
                </a:solidFill>
              </a:rPr>
              <a:t>Analizi</a:t>
            </a:r>
            <a:r>
              <a:rPr sz="1500" dirty="0">
                <a:solidFill>
                  <a:srgbClr val="222B35"/>
                </a:solidFill>
              </a:rPr>
              <a:t> Yap" </a:t>
            </a:r>
            <a:r>
              <a:rPr sz="1500" dirty="0" err="1">
                <a:solidFill>
                  <a:srgbClr val="222B35"/>
                </a:solidFill>
              </a:rPr>
              <a:t>butonuna</a:t>
            </a:r>
            <a:r>
              <a:rPr sz="1500" dirty="0">
                <a:solidFill>
                  <a:srgbClr val="222B35"/>
                </a:solidFill>
              </a:rPr>
              <a:t> </a:t>
            </a:r>
            <a:r>
              <a:rPr sz="1500" dirty="0" err="1">
                <a:solidFill>
                  <a:srgbClr val="222B35"/>
                </a:solidFill>
              </a:rPr>
              <a:t>tıklanır</a:t>
            </a:r>
            <a:endParaRPr sz="1500" dirty="0">
              <a:solidFill>
                <a:srgbClr val="222B3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0" y="5300000"/>
            <a:ext cx="44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0" y="5740000"/>
            <a:ext cx="4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Slayt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Streamlit Arayüzü — Sonuç Ekranı</a:t>
            </a:r>
          </a:p>
        </p:txBody>
      </p:sp>
      <p:pic>
        <p:nvPicPr>
          <p:cNvPr id="3" name="Picture 2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000"/>
            <a:ext cx="6000000" cy="47434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0000" y="1097280"/>
            <a:ext cx="47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3D91"/>
                </a:solidFill>
              </a:rPr>
              <a:t>Tahmin Sonucu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0000" y="1620000"/>
            <a:ext cx="47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Random Forest modeli 22 mahsül arasından tahmin yapar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Sonuç pop-up (modal) olarak ekrana gelir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Önerilen mahsül + tahmin yüzdesi gösterilir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En olası 3 mahsül olasılık çubuklarıyla listelenir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</a:rPr>
              <a:t>•  Kullanılan girdi değerleri özet tabloda yer alır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0000" y="5400000"/>
            <a:ext cx="47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0000" y="5840000"/>
            <a:ext cx="4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</a:rPr>
              <a:t>Slayt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0000"/>
            <a:ext cx="109728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 dirty="0">
                <a:solidFill>
                  <a:srgbClr val="0B3D91"/>
                </a:solidFill>
              </a:rPr>
              <a:t>Model </a:t>
            </a:r>
            <a:r>
              <a:rPr sz="1800" b="1" dirty="0" err="1">
                <a:solidFill>
                  <a:srgbClr val="0B3D91"/>
                </a:solidFill>
              </a:rPr>
              <a:t>Performansı</a:t>
            </a:r>
            <a:endParaRPr sz="1800" b="1" dirty="0">
              <a:solidFill>
                <a:srgbClr val="0B3D91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En iyi model: Random Forest — Test Accuracy %98.92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</a:t>
            </a:r>
            <a:r>
              <a:rPr sz="1400" b="0" dirty="0" err="1">
                <a:solidFill>
                  <a:srgbClr val="222B35"/>
                </a:solidFill>
              </a:rPr>
              <a:t>Tüm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modeller</a:t>
            </a:r>
            <a:r>
              <a:rPr sz="1400" b="0" dirty="0">
                <a:solidFill>
                  <a:srgbClr val="222B35"/>
                </a:solidFill>
              </a:rPr>
              <a:t> (RF, DT, KNN, SVM, GB) %96 </a:t>
            </a:r>
            <a:r>
              <a:rPr sz="1400" b="0" dirty="0" err="1">
                <a:solidFill>
                  <a:srgbClr val="222B35"/>
                </a:solidFill>
              </a:rPr>
              <a:t>üzerinde</a:t>
            </a:r>
            <a:r>
              <a:rPr sz="1400" b="0" dirty="0">
                <a:solidFill>
                  <a:srgbClr val="222B35"/>
                </a:solidFill>
              </a:rPr>
              <a:t> test </a:t>
            </a:r>
            <a:r>
              <a:rPr sz="1400" b="0" dirty="0" err="1">
                <a:solidFill>
                  <a:srgbClr val="222B35"/>
                </a:solidFill>
              </a:rPr>
              <a:t>doğruluğu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</a:t>
            </a:r>
            <a:r>
              <a:rPr sz="1400" b="0" dirty="0" err="1">
                <a:solidFill>
                  <a:srgbClr val="222B35"/>
                </a:solidFill>
              </a:rPr>
              <a:t>Doğrulama</a:t>
            </a:r>
            <a:r>
              <a:rPr sz="1400" b="0" dirty="0">
                <a:solidFill>
                  <a:srgbClr val="222B35"/>
                </a:solidFill>
              </a:rPr>
              <a:t>–test </a:t>
            </a:r>
            <a:r>
              <a:rPr sz="1400" b="0" dirty="0" err="1">
                <a:solidFill>
                  <a:srgbClr val="222B35"/>
                </a:solidFill>
              </a:rPr>
              <a:t>arası</a:t>
            </a:r>
            <a:r>
              <a:rPr sz="1400" b="0" dirty="0">
                <a:solidFill>
                  <a:srgbClr val="222B35"/>
                </a:solidFill>
              </a:rPr>
              <a:t> fark </a:t>
            </a:r>
            <a:r>
              <a:rPr sz="1400" b="0" dirty="0" err="1">
                <a:solidFill>
                  <a:srgbClr val="222B35"/>
                </a:solidFill>
              </a:rPr>
              <a:t>sadece</a:t>
            </a:r>
            <a:r>
              <a:rPr sz="1400" b="0" dirty="0">
                <a:solidFill>
                  <a:srgbClr val="222B35"/>
                </a:solidFill>
              </a:rPr>
              <a:t> 0.003 → overfitting yok</a:t>
            </a:r>
          </a:p>
          <a:p>
            <a:pPr>
              <a:spcAft>
                <a:spcPts val="1200"/>
              </a:spcAft>
            </a:pPr>
            <a:r>
              <a:rPr sz="1400" b="0" dirty="0">
                <a:solidFill>
                  <a:srgbClr val="222B35"/>
                </a:solidFill>
              </a:rPr>
              <a:t>•  ROC-AUC </a:t>
            </a:r>
            <a:r>
              <a:rPr sz="1400" b="0" dirty="0" err="1">
                <a:solidFill>
                  <a:srgbClr val="222B35"/>
                </a:solidFill>
              </a:rPr>
              <a:t>tüm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modellerde</a:t>
            </a:r>
            <a:r>
              <a:rPr sz="1400" b="0" dirty="0">
                <a:solidFill>
                  <a:srgbClr val="222B35"/>
                </a:solidFill>
              </a:rPr>
              <a:t> ≈ 1.00 → </a:t>
            </a:r>
            <a:r>
              <a:rPr sz="1400" b="0" dirty="0" err="1">
                <a:solidFill>
                  <a:srgbClr val="222B35"/>
                </a:solidFill>
              </a:rPr>
              <a:t>sınıflar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çok</a:t>
            </a:r>
            <a:r>
              <a:rPr sz="1400" b="0" dirty="0">
                <a:solidFill>
                  <a:srgbClr val="222B35"/>
                </a:solidFill>
              </a:rPr>
              <a:t> iyi </a:t>
            </a:r>
            <a:r>
              <a:rPr sz="1400" b="0" dirty="0" err="1">
                <a:solidFill>
                  <a:srgbClr val="222B35"/>
                </a:solidFill>
              </a:rPr>
              <a:t>ayrışıyor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0B3D91"/>
                </a:solidFill>
              </a:rPr>
              <a:t>Veri </a:t>
            </a:r>
            <a:r>
              <a:rPr sz="1800" b="1" dirty="0" err="1">
                <a:solidFill>
                  <a:srgbClr val="0B3D91"/>
                </a:solidFill>
              </a:rPr>
              <a:t>ve</a:t>
            </a:r>
            <a:r>
              <a:rPr sz="1800" b="1" dirty="0">
                <a:solidFill>
                  <a:srgbClr val="0B3D91"/>
                </a:solidFill>
              </a:rPr>
              <a:t> </a:t>
            </a:r>
            <a:r>
              <a:rPr sz="1800" b="1" dirty="0" err="1">
                <a:solidFill>
                  <a:srgbClr val="0B3D91"/>
                </a:solidFill>
              </a:rPr>
              <a:t>Özellik</a:t>
            </a:r>
            <a:r>
              <a:rPr sz="1800" b="1" dirty="0">
                <a:solidFill>
                  <a:srgbClr val="0B3D91"/>
                </a:solidFill>
              </a:rPr>
              <a:t> </a:t>
            </a:r>
            <a:r>
              <a:rPr sz="1800" b="1" dirty="0" err="1">
                <a:solidFill>
                  <a:srgbClr val="0B3D91"/>
                </a:solidFill>
              </a:rPr>
              <a:t>Analizi</a:t>
            </a:r>
            <a:endParaRPr sz="1800" b="1" dirty="0">
              <a:solidFill>
                <a:srgbClr val="0B3D91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2200 </a:t>
            </a:r>
            <a:r>
              <a:rPr sz="1400" b="0" dirty="0" err="1">
                <a:solidFill>
                  <a:srgbClr val="222B35"/>
                </a:solidFill>
              </a:rPr>
              <a:t>örnek</a:t>
            </a:r>
            <a:r>
              <a:rPr sz="1400" b="0" dirty="0">
                <a:solidFill>
                  <a:srgbClr val="222B35"/>
                </a:solidFill>
              </a:rPr>
              <a:t>, 22 </a:t>
            </a:r>
            <a:r>
              <a:rPr sz="1400" b="0" dirty="0" err="1">
                <a:solidFill>
                  <a:srgbClr val="222B35"/>
                </a:solidFill>
              </a:rPr>
              <a:t>mahsül</a:t>
            </a:r>
            <a:r>
              <a:rPr sz="1400" b="0" dirty="0">
                <a:solidFill>
                  <a:srgbClr val="222B35"/>
                </a:solidFill>
              </a:rPr>
              <a:t> — IQR </a:t>
            </a:r>
            <a:r>
              <a:rPr sz="1400" b="0" dirty="0" err="1">
                <a:solidFill>
                  <a:srgbClr val="222B35"/>
                </a:solidFill>
              </a:rPr>
              <a:t>ile</a:t>
            </a:r>
            <a:r>
              <a:rPr sz="1400" b="0" dirty="0">
                <a:solidFill>
                  <a:srgbClr val="222B35"/>
                </a:solidFill>
              </a:rPr>
              <a:t> 354 </a:t>
            </a:r>
            <a:r>
              <a:rPr sz="1400" b="0" dirty="0" err="1">
                <a:solidFill>
                  <a:srgbClr val="222B35"/>
                </a:solidFill>
              </a:rPr>
              <a:t>aykırı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temizlendi</a:t>
            </a:r>
            <a:r>
              <a:rPr sz="1400" b="0" dirty="0">
                <a:solidFill>
                  <a:srgbClr val="222B35"/>
                </a:solidFill>
              </a:rPr>
              <a:t> (→ 1846 </a:t>
            </a:r>
            <a:r>
              <a:rPr sz="1400" b="0" dirty="0" err="1">
                <a:solidFill>
                  <a:srgbClr val="222B35"/>
                </a:solidFill>
              </a:rPr>
              <a:t>satır</a:t>
            </a:r>
            <a:r>
              <a:rPr sz="1400" b="0" dirty="0">
                <a:solidFill>
                  <a:srgbClr val="222B35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4 </a:t>
            </a:r>
            <a:r>
              <a:rPr sz="1400" b="0" dirty="0" err="1">
                <a:solidFill>
                  <a:srgbClr val="222B35"/>
                </a:solidFill>
              </a:rPr>
              <a:t>farklı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yöntem</a:t>
            </a:r>
            <a:r>
              <a:rPr sz="1400" b="0" dirty="0">
                <a:solidFill>
                  <a:srgbClr val="222B35"/>
                </a:solidFill>
              </a:rPr>
              <a:t> (Pearson, ANOVA, MI, RF) </a:t>
            </a:r>
            <a:r>
              <a:rPr sz="1400" b="0" dirty="0" err="1">
                <a:solidFill>
                  <a:srgbClr val="222B35"/>
                </a:solidFill>
              </a:rPr>
              <a:t>ile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özellik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seçimi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yapıldı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En </a:t>
            </a:r>
            <a:r>
              <a:rPr sz="1400" b="0" dirty="0" err="1">
                <a:solidFill>
                  <a:srgbClr val="222B35"/>
                </a:solidFill>
              </a:rPr>
              <a:t>belirleyici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özellikler</a:t>
            </a:r>
            <a:r>
              <a:rPr sz="1400" b="0" dirty="0">
                <a:solidFill>
                  <a:srgbClr val="222B35"/>
                </a:solidFill>
              </a:rPr>
              <a:t>: humidity, rainfall, K, P (3+ </a:t>
            </a:r>
            <a:r>
              <a:rPr sz="1400" b="0" dirty="0" err="1">
                <a:solidFill>
                  <a:srgbClr val="222B35"/>
                </a:solidFill>
              </a:rPr>
              <a:t>yöntem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hemfikir</a:t>
            </a:r>
            <a:r>
              <a:rPr sz="1400" b="0" dirty="0">
                <a:solidFill>
                  <a:srgbClr val="222B35"/>
                </a:solidFill>
              </a:rPr>
              <a:t>)</a:t>
            </a:r>
          </a:p>
          <a:p>
            <a:pPr>
              <a:spcAft>
                <a:spcPts val="1200"/>
              </a:spcAft>
            </a:pPr>
            <a:r>
              <a:rPr sz="1400" b="0" dirty="0">
                <a:solidFill>
                  <a:srgbClr val="222B35"/>
                </a:solidFill>
              </a:rPr>
              <a:t>•  SHAP </a:t>
            </a:r>
            <a:r>
              <a:rPr sz="1400" b="0" dirty="0" err="1">
                <a:solidFill>
                  <a:srgbClr val="222B35"/>
                </a:solidFill>
              </a:rPr>
              <a:t>analizi</a:t>
            </a:r>
            <a:r>
              <a:rPr sz="1400" b="0" dirty="0">
                <a:solidFill>
                  <a:srgbClr val="222B35"/>
                </a:solidFill>
              </a:rPr>
              <a:t> humidity </a:t>
            </a:r>
            <a:r>
              <a:rPr sz="1400" b="0" dirty="0" err="1">
                <a:solidFill>
                  <a:srgbClr val="222B35"/>
                </a:solidFill>
              </a:rPr>
              <a:t>ve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rainfall'ın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baskın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olduğunu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doğruladı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400"/>
              </a:spcAft>
            </a:pPr>
            <a:r>
              <a:rPr sz="1800" b="1" dirty="0" err="1">
                <a:solidFill>
                  <a:srgbClr val="0B3D91"/>
                </a:solidFill>
              </a:rPr>
              <a:t>Canlıya</a:t>
            </a:r>
            <a:r>
              <a:rPr sz="1800" b="1" dirty="0">
                <a:solidFill>
                  <a:srgbClr val="0B3D91"/>
                </a:solidFill>
              </a:rPr>
              <a:t> Alma </a:t>
            </a:r>
            <a:r>
              <a:rPr sz="1800" b="1" dirty="0" err="1">
                <a:solidFill>
                  <a:srgbClr val="0B3D91"/>
                </a:solidFill>
              </a:rPr>
              <a:t>ve</a:t>
            </a:r>
            <a:r>
              <a:rPr sz="1800" b="1" dirty="0">
                <a:solidFill>
                  <a:srgbClr val="0B3D91"/>
                </a:solidFill>
              </a:rPr>
              <a:t> </a:t>
            </a:r>
            <a:r>
              <a:rPr sz="1800" b="1" dirty="0" err="1">
                <a:solidFill>
                  <a:srgbClr val="0B3D91"/>
                </a:solidFill>
              </a:rPr>
              <a:t>Sonuç</a:t>
            </a:r>
            <a:endParaRPr sz="1800" b="1" dirty="0">
              <a:solidFill>
                <a:srgbClr val="0B3D91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Random Forest </a:t>
            </a:r>
            <a:r>
              <a:rPr sz="1400" b="0" dirty="0" err="1">
                <a:solidFill>
                  <a:srgbClr val="222B35"/>
                </a:solidFill>
              </a:rPr>
              <a:t>modeli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Streamlit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ile</a:t>
            </a:r>
            <a:r>
              <a:rPr sz="1400" b="0" dirty="0">
                <a:solidFill>
                  <a:srgbClr val="222B35"/>
                </a:solidFill>
              </a:rPr>
              <a:t> web </a:t>
            </a:r>
            <a:r>
              <a:rPr sz="1400" b="0" dirty="0" err="1">
                <a:solidFill>
                  <a:srgbClr val="222B35"/>
                </a:solidFill>
              </a:rPr>
              <a:t>arayüzüne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entegre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edildi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</a:t>
            </a:r>
            <a:r>
              <a:rPr sz="1400" b="0" dirty="0" err="1">
                <a:solidFill>
                  <a:srgbClr val="222B35"/>
                </a:solidFill>
              </a:rPr>
              <a:t>Kullanıcı</a:t>
            </a:r>
            <a:r>
              <a:rPr sz="1400" b="0" dirty="0">
                <a:solidFill>
                  <a:srgbClr val="222B35"/>
                </a:solidFill>
              </a:rPr>
              <a:t> 7 </a:t>
            </a:r>
            <a:r>
              <a:rPr sz="1400" b="0" dirty="0" err="1">
                <a:solidFill>
                  <a:srgbClr val="222B35"/>
                </a:solidFill>
              </a:rPr>
              <a:t>toprak</a:t>
            </a:r>
            <a:r>
              <a:rPr sz="1400" b="0" dirty="0">
                <a:solidFill>
                  <a:srgbClr val="222B35"/>
                </a:solidFill>
              </a:rPr>
              <a:t>/</a:t>
            </a:r>
            <a:r>
              <a:rPr sz="1400" b="0" dirty="0" err="1">
                <a:solidFill>
                  <a:srgbClr val="222B35"/>
                </a:solidFill>
              </a:rPr>
              <a:t>iklim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parametresini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girer</a:t>
            </a:r>
            <a:r>
              <a:rPr sz="1400" b="0" dirty="0">
                <a:solidFill>
                  <a:srgbClr val="222B35"/>
                </a:solidFill>
              </a:rPr>
              <a:t> → modal pop-</a:t>
            </a:r>
            <a:r>
              <a:rPr sz="1400" b="0" dirty="0" err="1">
                <a:solidFill>
                  <a:srgbClr val="222B35"/>
                </a:solidFill>
              </a:rPr>
              <a:t>up'ta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tahmin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sunulur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B35"/>
                </a:solidFill>
              </a:rPr>
              <a:t>•  </a:t>
            </a:r>
            <a:r>
              <a:rPr sz="1400" b="0" dirty="0" err="1">
                <a:solidFill>
                  <a:srgbClr val="222B35"/>
                </a:solidFill>
              </a:rPr>
              <a:t>Sistem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gerçek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zamanlı</a:t>
            </a:r>
            <a:r>
              <a:rPr sz="1400" b="0" dirty="0">
                <a:solidFill>
                  <a:srgbClr val="222B35"/>
                </a:solidFill>
              </a:rPr>
              <a:t>, </a:t>
            </a:r>
            <a:r>
              <a:rPr sz="1400" b="0" dirty="0" err="1">
                <a:solidFill>
                  <a:srgbClr val="222B35"/>
                </a:solidFill>
              </a:rPr>
              <a:t>çiftçi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karar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destek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aracı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olarak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kullanılabilir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durumda</a:t>
            </a:r>
            <a:endParaRPr sz="1400" b="0" dirty="0">
              <a:solidFill>
                <a:srgbClr val="222B35"/>
              </a:solidFill>
            </a:endParaRPr>
          </a:p>
          <a:p>
            <a:pPr>
              <a:spcAft>
                <a:spcPts val="0"/>
              </a:spcAft>
            </a:pPr>
            <a:r>
              <a:rPr sz="1400" b="0" dirty="0">
                <a:solidFill>
                  <a:srgbClr val="222B35"/>
                </a:solidFill>
              </a:rPr>
              <a:t>•  </a:t>
            </a:r>
            <a:r>
              <a:rPr sz="1400" b="0" dirty="0" err="1">
                <a:solidFill>
                  <a:srgbClr val="222B35"/>
                </a:solidFill>
              </a:rPr>
              <a:t>Çıktı</a:t>
            </a:r>
            <a:r>
              <a:rPr sz="1400" b="0" dirty="0">
                <a:solidFill>
                  <a:srgbClr val="222B35"/>
                </a:solidFill>
              </a:rPr>
              <a:t>: </a:t>
            </a:r>
            <a:r>
              <a:rPr sz="1400" b="0" dirty="0" err="1">
                <a:solidFill>
                  <a:srgbClr val="222B35"/>
                </a:solidFill>
              </a:rPr>
              <a:t>tahmin</a:t>
            </a:r>
            <a:r>
              <a:rPr sz="1400" b="0" dirty="0">
                <a:solidFill>
                  <a:srgbClr val="222B35"/>
                </a:solidFill>
              </a:rPr>
              <a:t> + </a:t>
            </a:r>
            <a:r>
              <a:rPr sz="1400" b="0" dirty="0" err="1">
                <a:solidFill>
                  <a:srgbClr val="222B35"/>
                </a:solidFill>
              </a:rPr>
              <a:t>olasılık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dağılımı</a:t>
            </a:r>
            <a:r>
              <a:rPr sz="1400" b="0" dirty="0">
                <a:solidFill>
                  <a:srgbClr val="222B35"/>
                </a:solidFill>
              </a:rPr>
              <a:t> (top-3) → </a:t>
            </a:r>
            <a:r>
              <a:rPr sz="1400" b="0" dirty="0" err="1">
                <a:solidFill>
                  <a:srgbClr val="222B35"/>
                </a:solidFill>
              </a:rPr>
              <a:t>şeffaf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ve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yorumlanabilir</a:t>
            </a:r>
            <a:r>
              <a:rPr sz="1400" b="0" dirty="0">
                <a:solidFill>
                  <a:srgbClr val="222B35"/>
                </a:solidFill>
              </a:rPr>
              <a:t> </a:t>
            </a:r>
            <a:r>
              <a:rPr sz="1400" b="0" dirty="0" err="1">
                <a:solidFill>
                  <a:srgbClr val="222B35"/>
                </a:solidFill>
              </a:rPr>
              <a:t>karar</a:t>
            </a:r>
            <a:endParaRPr sz="1400" b="0" dirty="0">
              <a:solidFill>
                <a:srgbClr val="222B3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</a:rPr>
              <a:t>Slayt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 err="1">
                <a:solidFill>
                  <a:srgbClr val="FFFFFF"/>
                </a:solidFill>
              </a:rPr>
              <a:t>Teşekkürler</a:t>
            </a:r>
            <a:endParaRPr sz="7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1708</Words>
  <Application>Microsoft Office PowerPoint</Application>
  <PresentationFormat>Widescreen</PresentationFormat>
  <Paragraphs>441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ENES TOPÇAM</cp:lastModifiedBy>
  <cp:revision>5</cp:revision>
  <dcterms:created xsi:type="dcterms:W3CDTF">2013-01-27T09:14:16Z</dcterms:created>
  <dcterms:modified xsi:type="dcterms:W3CDTF">2026-05-17T17:59:11Z</dcterms:modified>
  <cp:category/>
</cp:coreProperties>
</file>